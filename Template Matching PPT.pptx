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306" r:id="rId4"/>
    <p:sldId id="301" r:id="rId5"/>
    <p:sldId id="319" r:id="rId6"/>
    <p:sldId id="310" r:id="rId7"/>
    <p:sldId id="311" r:id="rId8"/>
    <p:sldId id="320" r:id="rId9"/>
    <p:sldId id="312" r:id="rId10"/>
    <p:sldId id="321" r:id="rId11"/>
    <p:sldId id="313" r:id="rId12"/>
    <p:sldId id="314" r:id="rId13"/>
    <p:sldId id="315" r:id="rId14"/>
    <p:sldId id="316" r:id="rId15"/>
    <p:sldId id="317" r:id="rId16"/>
    <p:sldId id="318" r:id="rId17"/>
    <p:sldId id="304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29" autoAdjust="0"/>
    <p:restoredTop sz="78234" autoAdjust="0"/>
  </p:normalViewPr>
  <p:slideViewPr>
    <p:cSldViewPr snapToGrid="0">
      <p:cViewPr varScale="1">
        <p:scale>
          <a:sx n="82" d="100"/>
          <a:sy n="82" d="100"/>
        </p:scale>
        <p:origin x="7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F9FD13-0E05-40B0-9C2D-35FEE512B5A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E69CCC-9934-46E6-BB00-68E42FFD9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965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940800" y="6245225"/>
            <a:ext cx="2641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F5655C12-3A60-42DE-8F94-9349A8BE7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81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itle and Tab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940800" y="6245225"/>
            <a:ext cx="2641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F5655C12-3A60-42DE-8F94-9349A8BE7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28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940800" y="6245225"/>
            <a:ext cx="2641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F5655C12-3A60-42DE-8F94-9349A8BE7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02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accent3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5"/>
          <p:cNvGrpSpPr/>
          <p:nvPr/>
        </p:nvGrpSpPr>
        <p:grpSpPr>
          <a:xfrm>
            <a:off x="9790671" y="4546233"/>
            <a:ext cx="2255229" cy="2310064"/>
            <a:chOff x="7343003" y="3409675"/>
            <a:chExt cx="1691422" cy="1732548"/>
          </a:xfrm>
        </p:grpSpPr>
        <p:grpSp>
          <p:nvGrpSpPr>
            <p:cNvPr id="24" name="Google Shape;24;p5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25" name="Google Shape;25;p5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" name="Google Shape;26;p5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7" name="Google Shape;27;p5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28" name="Google Shape;28;p5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" name="Google Shape;29;p5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" name="Google Shape;30;p5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1" name="Google Shape;31;p5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32" name="Google Shape;32;p5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" name="Google Shape;33;p5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" name="Google Shape;34;p5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" name="Google Shape;35;p5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6" name="Google Shape;36;p5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37" name="Google Shape;37;p5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" name="Google Shape;38;p5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" name="Google Shape;39;p5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" name="Google Shape;40;p5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" name="Google Shape;41;p5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42" name="Google Shape;42;p5"/>
          <p:cNvGrpSpPr/>
          <p:nvPr/>
        </p:nvGrpSpPr>
        <p:grpSpPr>
          <a:xfrm>
            <a:off x="6724671" y="0"/>
            <a:ext cx="5085429" cy="5118803"/>
            <a:chOff x="5043503" y="0"/>
            <a:chExt cx="3814072" cy="3839102"/>
          </a:xfrm>
        </p:grpSpPr>
        <p:sp>
          <p:nvSpPr>
            <p:cNvPr id="43" name="Google Shape;43;p5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5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45" name="Google Shape;45;p5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46" name="Google Shape;46;p5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" name="Google Shape;47;p5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" name="Google Shape;48;p5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49" name="Google Shape;49;p5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50" name="Google Shape;50;p5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51" name="Google Shape;51;p5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" name="Google Shape;52;p5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53" name="Google Shape;53;p5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54;p5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5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5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9" name="Google Shape;59;p5"/>
          <p:cNvSpPr txBox="1">
            <a:spLocks noGrp="1"/>
          </p:cNvSpPr>
          <p:nvPr>
            <p:ph type="ctrTitle"/>
          </p:nvPr>
        </p:nvSpPr>
        <p:spPr>
          <a:xfrm>
            <a:off x="1098667" y="2151751"/>
            <a:ext cx="5674000" cy="2497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ubTitle" idx="1"/>
          </p:nvPr>
        </p:nvSpPr>
        <p:spPr>
          <a:xfrm>
            <a:off x="1098667" y="4795067"/>
            <a:ext cx="5674000" cy="92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F5655C12-3A60-42DE-8F94-9349A8BE7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257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6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64" name="Google Shape;64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65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6" name="Google Shape;66;p6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9374000" cy="1332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9374000" cy="338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575719" rtl="0">
              <a:spcBef>
                <a:spcPts val="853"/>
              </a:spcBef>
              <a:spcAft>
                <a:spcPts val="0"/>
              </a:spcAft>
              <a:buSzPts val="3200"/>
              <a:buChar char="•"/>
              <a:defRPr/>
            </a:lvl1pPr>
            <a:lvl2pPr marL="1219170" lvl="1" indent="-541853" rtl="0">
              <a:spcBef>
                <a:spcPts val="747"/>
              </a:spcBef>
              <a:spcAft>
                <a:spcPts val="0"/>
              </a:spcAft>
              <a:buSzPts val="2800"/>
              <a:buChar char="–"/>
              <a:defRPr/>
            </a:lvl2pPr>
            <a:lvl3pPr marL="1828754" lvl="2" indent="-507987" rtl="0">
              <a:spcBef>
                <a:spcPts val="640"/>
              </a:spcBef>
              <a:spcAft>
                <a:spcPts val="0"/>
              </a:spcAft>
              <a:buSzPts val="2400"/>
              <a:buChar char="•"/>
              <a:defRPr/>
            </a:lvl3pPr>
            <a:lvl4pPr marL="2438339" lvl="3" indent="-474121" rtl="0">
              <a:spcBef>
                <a:spcPts val="533"/>
              </a:spcBef>
              <a:spcAft>
                <a:spcPts val="0"/>
              </a:spcAft>
              <a:buSzPts val="2000"/>
              <a:buChar char="–"/>
              <a:defRPr/>
            </a:lvl4pPr>
            <a:lvl5pPr marL="3047924" lvl="4" indent="-474121" rtl="0">
              <a:spcBef>
                <a:spcPts val="533"/>
              </a:spcBef>
              <a:spcAft>
                <a:spcPts val="0"/>
              </a:spcAft>
              <a:buSzPts val="2000"/>
              <a:buChar char="»"/>
              <a:defRPr/>
            </a:lvl5pPr>
            <a:lvl6pPr marL="3657509" lvl="5" indent="-474121" rtl="0">
              <a:spcBef>
                <a:spcPts val="533"/>
              </a:spcBef>
              <a:spcAft>
                <a:spcPts val="0"/>
              </a:spcAft>
              <a:buSzPts val="2000"/>
              <a:buChar char="»"/>
              <a:defRPr/>
            </a:lvl6pPr>
            <a:lvl7pPr marL="4267093" lvl="6" indent="-474121" rtl="0">
              <a:spcBef>
                <a:spcPts val="533"/>
              </a:spcBef>
              <a:spcAft>
                <a:spcPts val="0"/>
              </a:spcAft>
              <a:buSzPts val="2000"/>
              <a:buChar char="»"/>
              <a:defRPr/>
            </a:lvl7pPr>
            <a:lvl8pPr marL="4876678" lvl="7" indent="-474121" rtl="0">
              <a:spcBef>
                <a:spcPts val="533"/>
              </a:spcBef>
              <a:spcAft>
                <a:spcPts val="0"/>
              </a:spcAft>
              <a:buSzPts val="2000"/>
              <a:buChar char="»"/>
              <a:defRPr/>
            </a:lvl8pPr>
            <a:lvl9pPr marL="5486263" lvl="8" indent="-474121" rtl="0">
              <a:spcBef>
                <a:spcPts val="533"/>
              </a:spcBef>
              <a:spcAft>
                <a:spcPts val="0"/>
              </a:spcAft>
              <a:buSzPts val="2000"/>
              <a:buChar char="»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Google Shape;68;p6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F5655C12-3A60-42DE-8F94-9349A8BE7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907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7"/>
          <p:cNvGrpSpPr/>
          <p:nvPr/>
        </p:nvGrpSpPr>
        <p:grpSpPr>
          <a:xfrm>
            <a:off x="195693" y="4542"/>
            <a:ext cx="1644287" cy="1846047"/>
            <a:chOff x="146769" y="3406"/>
            <a:chExt cx="1233215" cy="1384535"/>
          </a:xfrm>
        </p:grpSpPr>
        <p:grpSp>
          <p:nvGrpSpPr>
            <p:cNvPr id="71" name="Google Shape;71;p7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72" name="Google Shape;72;p7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" name="Google Shape;73;p7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4" name="Google Shape;74;p7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75" name="Google Shape;75;p7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" name="Google Shape;76;p7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" name="Google Shape;77;p7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8" name="Google Shape;78;p7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79" name="Google Shape;79;p7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" name="Google Shape;80;p7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" name="Google Shape;81;p7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" name="Google Shape;82;p7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83" name="Google Shape;83;p7"/>
          <p:cNvGrpSpPr/>
          <p:nvPr/>
        </p:nvGrpSpPr>
        <p:grpSpPr>
          <a:xfrm>
            <a:off x="9033445" y="3872011"/>
            <a:ext cx="2914864" cy="2986000"/>
            <a:chOff x="6775084" y="2904008"/>
            <a:chExt cx="2186148" cy="2239500"/>
          </a:xfrm>
        </p:grpSpPr>
        <p:grpSp>
          <p:nvGrpSpPr>
            <p:cNvPr id="84" name="Google Shape;84;p7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85" name="Google Shape;85;p7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" name="Google Shape;86;p7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7" name="Google Shape;87;p7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88" name="Google Shape;88;p7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" name="Google Shape;89;p7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" name="Google Shape;90;p7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1" name="Google Shape;91;p7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92" name="Google Shape;92;p7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" name="Google Shape;93;p7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" name="Google Shape;94;p7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" name="Google Shape;95;p7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6" name="Google Shape;96;p7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97" name="Google Shape;97;p7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" name="Google Shape;98;p7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" name="Google Shape;99;p7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" name="Google Shape;100;p7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" name="Google Shape;101;p7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02" name="Google Shape;102;p7"/>
          <p:cNvSpPr txBox="1">
            <a:spLocks noGrp="1"/>
          </p:cNvSpPr>
          <p:nvPr>
            <p:ph type="title"/>
          </p:nvPr>
        </p:nvSpPr>
        <p:spPr>
          <a:xfrm>
            <a:off x="1098667" y="2151767"/>
            <a:ext cx="7810400" cy="2497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3" name="Google Shape;103;p7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600" cy="52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F5655C12-3A60-42DE-8F94-9349A8BE7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547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940800" y="6245225"/>
            <a:ext cx="2641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F5655C12-3A60-42DE-8F94-9349A8BE7381}" type="slidenum">
              <a:rPr lang="en-IN" smtClean="0"/>
              <a:t>‹#›</a:t>
            </a:fld>
            <a:endParaRPr lang="en-IN"/>
          </a:p>
        </p:txBody>
      </p:sp>
      <p:sp>
        <p:nvSpPr>
          <p:cNvPr id="9" name="Google Shape;9;p1"/>
          <p:cNvSpPr txBox="1"/>
          <p:nvPr/>
        </p:nvSpPr>
        <p:spPr>
          <a:xfrm>
            <a:off x="0" y="5638800"/>
            <a:ext cx="12192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406400" y="1631951"/>
            <a:ext cx="10871200" cy="779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sz="4267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2400"/>
          </a:p>
        </p:txBody>
      </p:sp>
      <p:sp>
        <p:nvSpPr>
          <p:cNvPr id="11" name="Google Shape;11;p1"/>
          <p:cNvSpPr txBox="1"/>
          <p:nvPr/>
        </p:nvSpPr>
        <p:spPr>
          <a:xfrm>
            <a:off x="2032000" y="5857875"/>
            <a:ext cx="7823200" cy="8617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C"/>
              </a:buClr>
              <a:buSzPts val="1800"/>
              <a:buFont typeface="Arial"/>
              <a:buNone/>
            </a:pPr>
            <a:r>
              <a:rPr lang="en" sz="2400" b="1" i="0" u="none" dirty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 </a:t>
            </a:r>
            <a:endParaRPr sz="24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C"/>
              </a:buClr>
              <a:buSzPts val="1800"/>
              <a:buFont typeface="Arial"/>
              <a:buNone/>
            </a:pPr>
            <a:r>
              <a:rPr lang="en" sz="2400" b="1" i="0" u="none" dirty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rPr>
              <a:t>COEP Technological University Pune</a:t>
            </a:r>
            <a:endParaRPr sz="2400" dirty="0"/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600" y="5857875"/>
            <a:ext cx="914400" cy="1000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625085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hanvibagthaliya/Template-Matching-CV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EB26855-9E6A-584E-C388-9AFD659BD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654753"/>
          </a:xfrm>
        </p:spPr>
        <p:txBody>
          <a:bodyPr/>
          <a:lstStyle/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Presentation on,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53B9E86-3A3E-1CB9-09C2-1F1153183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54620"/>
            <a:ext cx="10972800" cy="1352550"/>
          </a:xfrm>
        </p:spPr>
        <p:txBody>
          <a:bodyPr/>
          <a:lstStyle/>
          <a:p>
            <a:pPr marL="152396" indent="0" algn="ctr">
              <a:buNone/>
            </a:pPr>
            <a:r>
              <a:rPr lang="en-IN" sz="4000" b="1" dirty="0"/>
              <a:t>Template Matching</a:t>
            </a:r>
            <a:endParaRPr lang="en-US" sz="4000" b="1" cap="all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10;p8">
            <a:extLst>
              <a:ext uri="{FF2B5EF4-FFF2-40B4-BE49-F238E27FC236}">
                <a16:creationId xmlns:a16="http://schemas.microsoft.com/office/drawing/2014/main" id="{497DA8FB-36B8-1CC2-2EC4-81EA7BD6086C}"/>
              </a:ext>
            </a:extLst>
          </p:cNvPr>
          <p:cNvSpPr txBox="1"/>
          <p:nvPr/>
        </p:nvSpPr>
        <p:spPr>
          <a:xfrm>
            <a:off x="1946025" y="4132401"/>
            <a:ext cx="14475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11;p8">
            <a:extLst>
              <a:ext uri="{FF2B5EF4-FFF2-40B4-BE49-F238E27FC236}">
                <a16:creationId xmlns:a16="http://schemas.microsoft.com/office/drawing/2014/main" id="{76E82997-C159-E87B-DDDB-D9218B35C17B}"/>
              </a:ext>
            </a:extLst>
          </p:cNvPr>
          <p:cNvSpPr txBox="1"/>
          <p:nvPr/>
        </p:nvSpPr>
        <p:spPr>
          <a:xfrm>
            <a:off x="8097715" y="4132400"/>
            <a:ext cx="3261946" cy="465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112;p8">
            <a:extLst>
              <a:ext uri="{FF2B5EF4-FFF2-40B4-BE49-F238E27FC236}">
                <a16:creationId xmlns:a16="http://schemas.microsoft.com/office/drawing/2014/main" id="{27F12E89-C6AD-FA63-C628-CDC35774FF18}"/>
              </a:ext>
            </a:extLst>
          </p:cNvPr>
          <p:cNvSpPr txBox="1"/>
          <p:nvPr/>
        </p:nvSpPr>
        <p:spPr>
          <a:xfrm>
            <a:off x="1935950" y="4491166"/>
            <a:ext cx="2394425" cy="59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Jahanvi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Bagthaliya</a:t>
            </a:r>
            <a:endParaRPr lang="e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MIS. No.: 752562001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13;p8">
            <a:extLst>
              <a:ext uri="{FF2B5EF4-FFF2-40B4-BE49-F238E27FC236}">
                <a16:creationId xmlns:a16="http://schemas.microsoft.com/office/drawing/2014/main" id="{111BE8B1-9B0C-AC76-D828-264B63A8D088}"/>
              </a:ext>
            </a:extLst>
          </p:cNvPr>
          <p:cNvSpPr txBox="1"/>
          <p:nvPr/>
        </p:nvSpPr>
        <p:spPr>
          <a:xfrm>
            <a:off x="7653700" y="4381004"/>
            <a:ext cx="4149975" cy="1232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COEP Tech University, Pune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FAA5CF-7763-DFF3-2C47-195C518518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5655C12-3A60-42DE-8F94-9349A8BE7381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28687" y="120748"/>
            <a:ext cx="22092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fld id="{4056F987-4EA0-467E-9015-6DE2C2E1F6FD}" type="datetime2">
              <a:rPr lang="en-US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Friday, April 10, 2026</a:t>
            </a:fld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71640-55B9-0885-95C4-E41296E7A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715963"/>
          </a:xfrm>
        </p:spPr>
        <p:txBody>
          <a:bodyPr/>
          <a:lstStyle/>
          <a:p>
            <a:r>
              <a:rPr lang="en-IN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B8F4E-E6D4-766B-6BE5-20661CE78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990600"/>
            <a:ext cx="7030915" cy="4591050"/>
          </a:xfrm>
        </p:spPr>
        <p:txBody>
          <a:bodyPr/>
          <a:lstStyle/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Objectives 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Template Matching?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Sliding Window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Choosing Your “Measuring Tape” (Methods)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do we ditch Colour?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Moving Beyond One Match (Thresholding) 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Use Cases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“Catch” (Limitations)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Walkthrough (OpenCV)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&amp; Conclusion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of Thumb</a:t>
            </a:r>
          </a:p>
          <a:p>
            <a:endParaRPr lang="en-IN" sz="2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6FADB9-0ECE-0F75-135F-5C737D9CD3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5655C12-3A60-42DE-8F94-9349A8BE7381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584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9636A-F11B-DA24-0CAF-0BD044FC6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10299-AA41-F4C0-F3DD-F08648F31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627063"/>
          </a:xfrm>
        </p:spPr>
        <p:txBody>
          <a:bodyPr/>
          <a:lstStyle/>
          <a:p>
            <a:r>
              <a:rPr lang="en-IN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08F4E-22AA-74D0-729F-7896FAF8A168}"/>
              </a:ext>
            </a:extLst>
          </p:cNvPr>
          <p:cNvSpPr txBox="1"/>
          <p:nvPr/>
        </p:nvSpPr>
        <p:spPr>
          <a:xfrm>
            <a:off x="423080" y="901700"/>
            <a:ext cx="11345839" cy="3349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Understand the "Sliding Window" logic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</a:t>
            </a:r>
            <a:r>
              <a:rPr lang="en-US" sz="2400" dirty="0"/>
              <a:t>different mathematical matching methods (SQDIFF vs. CCORR vs CCOEFF).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</a:t>
            </a:r>
            <a:r>
              <a:rPr lang="en-US" sz="2400" dirty="0"/>
              <a:t>why we prioritize grayscale over color images.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/>
              <a:t>dentify real-world scenarios where this beats "Deep Learning.“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 </a:t>
            </a:r>
            <a:r>
              <a:rPr lang="en-US" sz="2400" dirty="0"/>
              <a:t>through a practical OpenCV implementation.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C35BF0-2254-314D-AB49-F1A66A2144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5655C12-3A60-42DE-8F94-9349A8BE7381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1625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5C648-4629-31A8-1A8A-D81BFA7AF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A878D-AC61-0C92-26A6-FD4D45352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627063"/>
          </a:xfrm>
        </p:spPr>
        <p:txBody>
          <a:bodyPr/>
          <a:lstStyle/>
          <a:p>
            <a:r>
              <a:rPr lang="en-IN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Template Matching?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4A7D8-9C64-1D5F-839B-4014AE5BD198}"/>
              </a:ext>
            </a:extLst>
          </p:cNvPr>
          <p:cNvSpPr txBox="1"/>
          <p:nvPr/>
        </p:nvSpPr>
        <p:spPr>
          <a:xfrm>
            <a:off x="423080" y="901700"/>
            <a:ext cx="11345839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Problem: </a:t>
            </a:r>
            <a:r>
              <a:rPr lang="en-US" sz="2400" dirty="0"/>
              <a:t>We have a small "target" image and a large "search" image. We need to find the exact x, y coordinates of the target.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b="1" dirty="0"/>
              <a:t>The Analogy: </a:t>
            </a:r>
            <a:r>
              <a:rPr lang="en-US" sz="2400" dirty="0"/>
              <a:t>Remember the </a:t>
            </a:r>
            <a:r>
              <a:rPr lang="en-US" sz="2400" b="1" dirty="0"/>
              <a:t>“Hidden Object” </a:t>
            </a:r>
            <a:r>
              <a:rPr lang="en-US" sz="2400" dirty="0"/>
              <a:t>games in Champak or Tinkle? You’re given a tiny picture of a </a:t>
            </a:r>
            <a:r>
              <a:rPr lang="en-US" sz="2400" b="1" dirty="0"/>
              <a:t>Kite</a:t>
            </a:r>
            <a:r>
              <a:rPr lang="en-US" sz="2400" dirty="0"/>
              <a:t> and asked to find it in a crowded market scene.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b="1" dirty="0"/>
              <a:t>The Reality: </a:t>
            </a:r>
            <a:r>
              <a:rPr lang="en-US" sz="2400" dirty="0"/>
              <a:t>In Computer Vision, the computer doesn't "see" a kite; it sees a grid of numbers (pixel intensities) and looks for that specific pattern. 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F8432D-499F-8444-C4C9-FDB7972ECF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5655C12-3A60-42DE-8F94-9349A8BE738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391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D740-C00C-446B-1C9C-13C605C73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4BD7A-4FAF-E137-0F90-C26A4180A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627063"/>
          </a:xfrm>
        </p:spPr>
        <p:txBody>
          <a:bodyPr/>
          <a:lstStyle/>
          <a:p>
            <a:r>
              <a:rPr lang="en-IN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Template Matching?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D4277C-ABA5-F69B-C143-9EB912C847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5655C12-3A60-42DE-8F94-9349A8BE7381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731E16-6BA6-24EC-F63E-0B10CBEF9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226" y="1145471"/>
            <a:ext cx="9100868" cy="415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473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7C1F3-E807-396F-1734-C72E12BB1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75A42-5D86-9565-CE4F-50A4FE8E4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627063"/>
          </a:xfrm>
        </p:spPr>
        <p:txBody>
          <a:bodyPr/>
          <a:lstStyle/>
          <a:p>
            <a:r>
              <a:rPr lang="en-IN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Sliding Window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A2934-906B-B25A-BDD6-A1BBEDA44C08}"/>
              </a:ext>
            </a:extLst>
          </p:cNvPr>
          <p:cNvSpPr txBox="1"/>
          <p:nvPr/>
        </p:nvSpPr>
        <p:spPr>
          <a:xfrm>
            <a:off x="423080" y="901700"/>
            <a:ext cx="11345839" cy="3903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Imagine taking your "Kite" cutout and placing it at the top-left corner of the large image.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The algorithm compares the pixels, calculates a "similarity score," and then </a:t>
            </a:r>
            <a:r>
              <a:rPr lang="en-US" sz="2400" b="1" dirty="0"/>
              <a:t>slides</a:t>
            </a:r>
            <a:r>
              <a:rPr lang="en-US" sz="2400" dirty="0"/>
              <a:t> the cutout one pixel to the right.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It repeats this across the entire image, row by row.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Result Map: </a:t>
            </a:r>
            <a:r>
              <a:rPr lang="en-US" sz="2400" dirty="0"/>
              <a:t>This process produces a heatmap. Bright spots (or dark spots, depending on the math) tell us exactly where the template likely sits.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C4569D-E81F-86BF-BE5A-65D02232C0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5655C12-3A60-42DE-8F94-9349A8BE738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155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5C1AC-0674-53B2-FE91-DF230EAA2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3569B-1A4B-EC96-0DAD-0B98FE676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627063"/>
          </a:xfrm>
        </p:spPr>
        <p:txBody>
          <a:bodyPr/>
          <a:lstStyle/>
          <a:p>
            <a:r>
              <a:rPr lang="en-IN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Choosing Your “Measuring Tape” (Methods)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6D22AA-600D-9C81-3A5B-5D01E23EF8F6}"/>
              </a:ext>
            </a:extLst>
          </p:cNvPr>
          <p:cNvSpPr txBox="1"/>
          <p:nvPr/>
        </p:nvSpPr>
        <p:spPr>
          <a:xfrm>
            <a:off x="0" y="729172"/>
            <a:ext cx="12042475" cy="5011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use different formulas to calculate how “close” a match is: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b="1" dirty="0"/>
              <a:t>SQDIFF (Squared Difference):</a:t>
            </a:r>
            <a:r>
              <a:rPr lang="en-US" sz="2400" dirty="0"/>
              <a:t> It calculates the difference between pixels. Think of this as a "Penalty Score." A </a:t>
            </a:r>
            <a:r>
              <a:rPr lang="en-US" sz="2400" b="1" dirty="0"/>
              <a:t>perfect match is 0</a:t>
            </a:r>
            <a:r>
              <a:rPr lang="en-US" sz="2400" dirty="0"/>
              <a:t>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b="1" dirty="0"/>
              <a:t>CCORR (Cross-Correlation):</a:t>
            </a:r>
            <a:r>
              <a:rPr lang="en-US" sz="2400" dirty="0"/>
              <a:t> It multiplies pixel values. A </a:t>
            </a:r>
            <a:r>
              <a:rPr lang="en-US" sz="2400" b="1" dirty="0"/>
              <a:t>higher score</a:t>
            </a:r>
            <a:r>
              <a:rPr lang="en-US" sz="2400" dirty="0"/>
              <a:t> means a better match. It’s simple but can be fooled by very bright spots.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b="1" dirty="0"/>
              <a:t>CCOEFF (Correlation Coefficient):</a:t>
            </a:r>
            <a:r>
              <a:rPr lang="en-US" sz="2400" dirty="0"/>
              <a:t> This is the most reliable. It subtracts the average brightness first, making it "blind" to shadows or lighting changes. This is usually our first choice for real-world photos.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b="1" dirty="0"/>
              <a:t>Note:</a:t>
            </a:r>
            <a:r>
              <a:rPr lang="en-US" sz="2400" dirty="0"/>
              <a:t> We usually use </a:t>
            </a:r>
            <a:r>
              <a:rPr lang="en-US" sz="2400" b="1" dirty="0"/>
              <a:t>"Normed"</a:t>
            </a:r>
            <a:r>
              <a:rPr lang="en-US" sz="2400" dirty="0"/>
              <a:t> versions (0 to 1 range) to make thresholding easier.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7D97D9-C043-27CD-9728-3604279E99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5655C12-3A60-42DE-8F94-9349A8BE738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015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3555D-1321-D526-E031-0417DEC11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EBC82-58C5-A5BC-BAFF-9F1D7B658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627063"/>
          </a:xfrm>
        </p:spPr>
        <p:txBody>
          <a:bodyPr/>
          <a:lstStyle/>
          <a:p>
            <a:r>
              <a:rPr lang="en-IN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Choosing Your “Measuring Tape” (Methods)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C57CB2-EA85-FB96-64B3-7A27E36896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5655C12-3A60-42DE-8F94-9349A8BE7381}" type="slidenum">
              <a:rPr lang="en-IN" smtClean="0"/>
              <a:t>8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575541-2B7B-A45F-1302-52426408C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356533"/>
              </p:ext>
            </p:extLst>
          </p:nvPr>
        </p:nvGraphicFramePr>
        <p:xfrm>
          <a:off x="609600" y="1095555"/>
          <a:ext cx="10972800" cy="274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16062219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37968701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3413635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839002562"/>
                    </a:ext>
                  </a:extLst>
                </a:gridCol>
              </a:tblGrid>
              <a:tr h="54031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OpenCV Method Name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What it measures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Best Match Value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Best Used For...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863002"/>
                  </a:ext>
                </a:extLst>
              </a:tr>
              <a:tr h="8312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TM_SQDIFF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Difference</a:t>
                      </a: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Minimum (0)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Simple, controlled lighting.</a:t>
                      </a: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814827"/>
                  </a:ext>
                </a:extLst>
              </a:tr>
              <a:tr h="54031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TM_CCORR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Overlap</a:t>
                      </a: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Maximum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Basic patterns.</a:t>
                      </a: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929784"/>
                  </a:ext>
                </a:extLst>
              </a:tr>
              <a:tr h="8312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TM_CCOEFF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Pattern Texture</a:t>
                      </a: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Maximum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Varying lighting &amp; shadows.</a:t>
                      </a: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68935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B5250EC-3027-6DB4-0C12-7DEF2D06F9DD}"/>
              </a:ext>
            </a:extLst>
          </p:cNvPr>
          <p:cNvSpPr txBox="1"/>
          <p:nvPr/>
        </p:nvSpPr>
        <p:spPr>
          <a:xfrm>
            <a:off x="500332" y="4037162"/>
            <a:ext cx="112057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Notes: </a:t>
            </a:r>
            <a:r>
              <a:rPr lang="en-US" sz="2400" dirty="0"/>
              <a:t>We usually use the "Normed" versions (like </a:t>
            </a:r>
            <a:r>
              <a:rPr lang="en-US" sz="2400" b="1" dirty="0"/>
              <a:t>TM_CCOEFF_NORMED</a:t>
            </a:r>
            <a:r>
              <a:rPr lang="en-US" sz="2400" dirty="0"/>
              <a:t>). This squeezes the result into a simple 0 to 1 range, making it much easier to understand (0% match to 100% match).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13441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26E74-62E9-40CB-4BB7-5067FF9A8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6F01B-1A8B-73CF-E051-AAD69B081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627063"/>
          </a:xfrm>
        </p:spPr>
        <p:txBody>
          <a:bodyPr/>
          <a:lstStyle/>
          <a:p>
            <a:r>
              <a:rPr lang="en-IN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do we ditch Colour?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F1E258-91A8-CE0A-D404-1811660F9935}"/>
              </a:ext>
            </a:extLst>
          </p:cNvPr>
          <p:cNvSpPr txBox="1"/>
          <p:nvPr/>
        </p:nvSpPr>
        <p:spPr>
          <a:xfrm>
            <a:off x="224288" y="901700"/>
            <a:ext cx="11544632" cy="4457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/>
              <a:t>One common question is: </a:t>
            </a:r>
            <a:r>
              <a:rPr lang="en-US" sz="2400" i="1" dirty="0"/>
              <a:t>"Why convert our Indian Market scene to Grayscale first?“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b="1" dirty="0"/>
              <a:t>Efficiency:</a:t>
            </a:r>
            <a:r>
              <a:rPr lang="en-US" sz="2400" dirty="0"/>
              <a:t> Color has 3 channels (Red, Green, Blue). Grayscale has 1. Processing in grayscale is </a:t>
            </a:r>
            <a:r>
              <a:rPr lang="en-US" sz="2400" b="1" dirty="0"/>
              <a:t>3x faster</a:t>
            </a:r>
            <a:r>
              <a:rPr lang="en-US" sz="2400" dirty="0"/>
              <a:t>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b="1" dirty="0"/>
              <a:t>Reliability:</a:t>
            </a:r>
            <a:r>
              <a:rPr lang="en-US" sz="2400" dirty="0"/>
              <a:t> Colors shift depending on the time of day or light bulbs used. However, the </a:t>
            </a:r>
            <a:r>
              <a:rPr lang="en-US" sz="2400" b="1" dirty="0"/>
              <a:t>shape and texture</a:t>
            </a:r>
            <a:r>
              <a:rPr lang="en-US" sz="2400" dirty="0"/>
              <a:t> (the edges of the kite) remain the same in grayscale.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b="1" dirty="0"/>
              <a:t>Focus:</a:t>
            </a:r>
            <a:r>
              <a:rPr lang="en-US" sz="2400" dirty="0"/>
              <a:t> We want the computer to find the "Pattern," not just get distracted by a bright red </a:t>
            </a:r>
            <a:r>
              <a:rPr lang="en-US" sz="2400" dirty="0" err="1"/>
              <a:t>colour</a:t>
            </a:r>
            <a:r>
              <a:rPr lang="en-US" sz="2400" dirty="0"/>
              <a:t> in the background.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275ADA-D46B-DFB3-51D6-455E99AA1B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5655C12-3A60-42DE-8F94-9349A8BE738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753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3276D-C1F4-5C49-1A96-4B022915E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0E7FC-4776-6E03-5511-ACF67D47E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627063"/>
          </a:xfrm>
        </p:spPr>
        <p:txBody>
          <a:bodyPr/>
          <a:lstStyle/>
          <a:p>
            <a:r>
              <a:rPr lang="en-IN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do we ditch Colour?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9DB34B-DE5F-8620-9F78-9CF8F6F844B0}"/>
              </a:ext>
            </a:extLst>
          </p:cNvPr>
          <p:cNvSpPr txBox="1"/>
          <p:nvPr/>
        </p:nvSpPr>
        <p:spPr>
          <a:xfrm>
            <a:off x="0" y="755052"/>
            <a:ext cx="12154232" cy="2239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/>
              <a:t>We ditch color because we want the computer to recognize the </a:t>
            </a:r>
            <a:r>
              <a:rPr lang="en-US" sz="2400" b="1" dirty="0"/>
              <a:t>Identity</a:t>
            </a:r>
            <a:r>
              <a:rPr lang="en-US" sz="2400" dirty="0"/>
              <a:t> of the traffic signal (its shape and structure) rather than getting distracted by its </a:t>
            </a:r>
            <a:r>
              <a:rPr lang="en-US" sz="2400" b="1" dirty="0"/>
              <a:t>Current Color</a:t>
            </a:r>
            <a:r>
              <a:rPr lang="en-US" sz="2400" dirty="0"/>
              <a:t> or the lighting of the environment. It makes our detection faster, lighter, and much more reliable.</a:t>
            </a:r>
            <a:endParaRPr lang="en-US" sz="2400" i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1FCA56-FEFA-287A-CEB2-221A335367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5655C12-3A60-42DE-8F94-9349A8BE7381}" type="slidenum">
              <a:rPr lang="en-IN" smtClean="0"/>
              <a:t>10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244479-FEA6-DECA-92C4-73691F4EF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696" y="3228104"/>
            <a:ext cx="2466975" cy="18478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686D5A-122A-A358-426F-FDF6890CC9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916" y="3228104"/>
            <a:ext cx="2466975" cy="18478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3527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410B5-3F0C-105A-97D4-4F379C3BD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EF50F-E7BE-67E4-B1B3-53587662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627063"/>
          </a:xfrm>
        </p:spPr>
        <p:txBody>
          <a:bodyPr/>
          <a:lstStyle/>
          <a:p>
            <a:r>
              <a:rPr lang="en-IN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Moving Beyond One Match (Thresholding)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8A985-F837-FB21-F371-E8E4B2F12052}"/>
              </a:ext>
            </a:extLst>
          </p:cNvPr>
          <p:cNvSpPr txBox="1"/>
          <p:nvPr/>
        </p:nvSpPr>
        <p:spPr>
          <a:xfrm>
            <a:off x="224288" y="901700"/>
            <a:ext cx="11544632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Sometimes there isn't just one kite; there might be five.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Standard functions like </a:t>
            </a:r>
            <a:r>
              <a:rPr lang="en-US" sz="2400" b="1" dirty="0" err="1"/>
              <a:t>minMaxLoc</a:t>
            </a:r>
            <a:r>
              <a:rPr lang="en-US" sz="2400" dirty="0"/>
              <a:t> only find the #1 best match.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b="1" dirty="0"/>
              <a:t>The Solution: </a:t>
            </a:r>
            <a:r>
              <a:rPr lang="en-US" sz="2400" dirty="0"/>
              <a:t>We set a </a:t>
            </a:r>
            <a:r>
              <a:rPr lang="en-US" sz="2400" b="1" dirty="0"/>
              <a:t>Threshold</a:t>
            </a:r>
            <a:r>
              <a:rPr lang="en-US" sz="2400" dirty="0"/>
              <a:t> (e.g., 0.8 or 80%)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We tell the computer: </a:t>
            </a:r>
            <a:r>
              <a:rPr lang="en-US" sz="2400" i="1" dirty="0"/>
              <a:t>"Show me every spot on the map where the similarity score is above 80%."</a:t>
            </a:r>
            <a:r>
              <a:rPr lang="en-US" sz="2400" dirty="0"/>
              <a:t> This allows us to detect multiple objects simultaneously.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A8E9AE-86AF-D100-BA50-D37E0F0273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5655C12-3A60-42DE-8F94-9349A8BE738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20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E061C-D2DC-1F7B-97D0-C4F7431D5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F29B1-55F3-AC14-393A-D08B83E65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627063"/>
          </a:xfrm>
        </p:spPr>
        <p:txBody>
          <a:bodyPr/>
          <a:lstStyle/>
          <a:p>
            <a:r>
              <a:rPr lang="en-IN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Use Cases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49250-31F0-0508-7AE5-34C1C65EB82E}"/>
              </a:ext>
            </a:extLst>
          </p:cNvPr>
          <p:cNvSpPr txBox="1"/>
          <p:nvPr/>
        </p:nvSpPr>
        <p:spPr>
          <a:xfrm>
            <a:off x="224288" y="901700"/>
            <a:ext cx="11826814" cy="4457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does this actually work in India today?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b="1" dirty="0"/>
              <a:t>Manufacturing:</a:t>
            </a:r>
            <a:r>
              <a:rPr lang="en-US" sz="2400" dirty="0"/>
              <a:t> Checking if a specific microchip is soldered correctly on a motherboard.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b="1" dirty="0" err="1"/>
              <a:t>FASTag</a:t>
            </a:r>
            <a:r>
              <a:rPr lang="en-US" sz="2400" b="1" dirty="0"/>
              <a:t> Systems:</a:t>
            </a:r>
            <a:r>
              <a:rPr lang="en-US" sz="2400" dirty="0"/>
              <a:t> Localizing the characters on a dusty license plate at a toll plaza.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b="1" dirty="0"/>
              <a:t>UI Automation:</a:t>
            </a:r>
            <a:r>
              <a:rPr lang="en-US" sz="2400" dirty="0"/>
              <a:t> Scripts that "find" the 'Submit' button on a website by looking for its specific logo/shape.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b="1" dirty="0"/>
              <a:t>Medical Labs:</a:t>
            </a:r>
            <a:r>
              <a:rPr lang="en-US" sz="2400" dirty="0"/>
              <a:t> Counting specific types of cells in a blood sample under a microscope.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B844CC-F96E-C8EA-2AC3-F9A280596A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5655C12-3A60-42DE-8F94-9349A8BE738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151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258E2-307F-70C8-D6F1-A7BDE88B5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E5236-701B-72CA-534F-BAA026731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627063"/>
          </a:xfrm>
        </p:spPr>
        <p:txBody>
          <a:bodyPr/>
          <a:lstStyle/>
          <a:p>
            <a:r>
              <a:rPr lang="en-IN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“Catch” (Limitations)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046D9C-095B-EC2E-E8AC-F0883E2DC00C}"/>
              </a:ext>
            </a:extLst>
          </p:cNvPr>
          <p:cNvSpPr txBox="1"/>
          <p:nvPr/>
        </p:nvSpPr>
        <p:spPr>
          <a:xfrm>
            <a:off x="0" y="901700"/>
            <a:ext cx="12192000" cy="4455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/>
              <a:t>As engineers, we must know where our tools fail: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b="1" dirty="0"/>
              <a:t>Size Matters (Scale Sensitivity):</a:t>
            </a:r>
            <a:r>
              <a:rPr lang="en-US" sz="2400" dirty="0"/>
              <a:t> If your template is small but the object in the photo is large, the match fails. i.e. If your template is 50 x 50 pixels, but the object in the image is 100 x 100 pixels, the algorithm will fail to find it.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b="1" dirty="0"/>
              <a:t>Rotation:</a:t>
            </a:r>
            <a:r>
              <a:rPr lang="en-US" sz="2400" dirty="0"/>
              <a:t> If the object is tilted even by 15 degrees, the pixel-for-pixel math breaks down.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b="1" dirty="0"/>
              <a:t>Obstructions (Blocking):</a:t>
            </a:r>
            <a:r>
              <a:rPr lang="en-US" sz="2400" dirty="0"/>
              <a:t> If a bird flies in front of our kite, the similarity score drops significantly, the match might be lost, and the computer gets confused.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7D92-D055-1F5C-67FC-371EEF5350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5655C12-3A60-42DE-8F94-9349A8BE738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240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27F9F-BFBD-BE9D-06A8-F27F38C99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F9C3D-02A8-B549-2D65-104DD4DEF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627063"/>
          </a:xfrm>
        </p:spPr>
        <p:txBody>
          <a:bodyPr/>
          <a:lstStyle/>
          <a:p>
            <a:r>
              <a:rPr lang="en-IN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Walkthrough (OpenCV)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68020E-DF9C-5B4F-436B-1C98B9962F13}"/>
              </a:ext>
            </a:extLst>
          </p:cNvPr>
          <p:cNvSpPr txBox="1"/>
          <p:nvPr/>
        </p:nvSpPr>
        <p:spPr>
          <a:xfrm>
            <a:off x="224288" y="901700"/>
            <a:ext cx="11826814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/>
              <a:t>Here is the core logic you'll need for your labs: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Link: </a:t>
            </a:r>
            <a:r>
              <a:rPr lang="en-US" sz="2400" dirty="0">
                <a:hlinkClick r:id="rId2"/>
              </a:rPr>
              <a:t>Template Matching Demo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99F973-99BC-A4DE-99AD-25CA5115BA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5655C12-3A60-42DE-8F94-9349A8BE738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16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03FB1-7245-E548-43FB-34590A838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5FFB0-076B-4030-4DD8-4A45D49D6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627063"/>
          </a:xfrm>
        </p:spPr>
        <p:txBody>
          <a:bodyPr/>
          <a:lstStyle/>
          <a:p>
            <a:r>
              <a:rPr lang="en-IN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&amp; 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B3A988-BF4F-3B1E-2CED-226D7ED1DB7C}"/>
              </a:ext>
            </a:extLst>
          </p:cNvPr>
          <p:cNvSpPr txBox="1"/>
          <p:nvPr/>
        </p:nvSpPr>
        <p:spPr>
          <a:xfrm>
            <a:off x="224288" y="901700"/>
            <a:ext cx="11826814" cy="334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/>
              <a:t>As engineers, we must know where our tools fail: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Template Matching is </a:t>
            </a:r>
            <a:r>
              <a:rPr lang="en-US" sz="2400" b="1" dirty="0"/>
              <a:t>fast, simple, and requires zero training data</a:t>
            </a:r>
            <a:r>
              <a:rPr lang="en-US" sz="2400" dirty="0"/>
              <a:t>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It is perfect for </a:t>
            </a:r>
            <a:r>
              <a:rPr lang="en-US" sz="2400" b="1" dirty="0"/>
              <a:t>rigid objects</a:t>
            </a:r>
            <a:r>
              <a:rPr lang="en-US" sz="2400" dirty="0"/>
              <a:t> in controlled environments (like factories).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/>
              <a:t>For objects that change shape, size, or angle, we eventually move toward Deep Learning but Template Matching is your essential first step in the world of Object Localization.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A381EB-4206-667D-BD4A-E4EF361A6F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5655C12-3A60-42DE-8F94-9349A8BE738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703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4CA95-E15C-E9F2-C532-05CDB59D0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8EE08-BC86-BC59-1BEA-E7FE690B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627063"/>
          </a:xfrm>
        </p:spPr>
        <p:txBody>
          <a:bodyPr/>
          <a:lstStyle/>
          <a:p>
            <a:r>
              <a:rPr lang="en-IN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of Thumb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5E26CD-C10F-0AC6-51E6-BC897F3503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5655C12-3A60-42DE-8F94-9349A8BE7381}" type="slidenum">
              <a:rPr lang="en-IN" smtClean="0"/>
              <a:t>16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6EADCE-7080-E2E7-4051-F30E717AE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557318"/>
              </p:ext>
            </p:extLst>
          </p:nvPr>
        </p:nvGraphicFramePr>
        <p:xfrm>
          <a:off x="609600" y="1479550"/>
          <a:ext cx="10972800" cy="338471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126469847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896968705"/>
                    </a:ext>
                  </a:extLst>
                </a:gridCol>
              </a:tblGrid>
              <a:tr h="67694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 Template Matching IF...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Switch to AI/Deep Learning IF...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005849"/>
                  </a:ext>
                </a:extLst>
              </a:tr>
              <a:tr h="67694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object is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rigid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(doesn't change shape).</a:t>
                      </a: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object is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natural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(like a person or dog).</a:t>
                      </a: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433465"/>
                  </a:ext>
                </a:extLst>
              </a:tr>
              <a:tr h="67694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camera angle and distance are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fixed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object can be at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any distance or angle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393855"/>
                  </a:ext>
                </a:extLst>
              </a:tr>
              <a:tr h="67694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You have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very little data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(only 1 image).</a:t>
                      </a: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You have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thousands of labeled images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719676"/>
                  </a:ext>
                </a:extLst>
              </a:tr>
              <a:tr h="67694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You need a solution that runs on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 power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(CPU)</a:t>
                      </a: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You have the hardware to run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heavy models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(GPU)</a:t>
                      </a:r>
                    </a:p>
                  </a:txBody>
                  <a:tcPr marT="121920" marB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478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9113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36773-F192-234F-928E-0911AF623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59122"/>
            <a:ext cx="10972800" cy="1143200"/>
          </a:xfrm>
        </p:spPr>
        <p:txBody>
          <a:bodyPr/>
          <a:lstStyle/>
          <a:p>
            <a:r>
              <a:rPr lang="en-IN" sz="6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6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you!</a:t>
            </a:r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4D0CB-DBD4-48C5-BB82-F692D492FD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5655C12-3A60-42DE-8F94-9349A8BE738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949091"/>
      </p:ext>
    </p:extLst>
  </p:cSld>
  <p:clrMapOvr>
    <a:masterClrMapping/>
  </p:clrMapOvr>
</p:sld>
</file>

<file path=ppt/theme/theme1.xml><?xml version="1.0" encoding="utf-8"?>
<a:theme xmlns:a="http://schemas.openxmlformats.org/drawingml/2006/main" name="COEP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P" id="{396A6E3F-70FA-4B89-8E83-20F01D66ACA1}" vid="{D9B9B725-563E-45C1-BE64-E2E3352817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COEP</Template>
  <TotalTime>12357</TotalTime>
  <Words>1220</Words>
  <Application>Microsoft Office PowerPoint</Application>
  <PresentationFormat>Widescreen</PresentationFormat>
  <Paragraphs>122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Google Sans Text</vt:lpstr>
      <vt:lpstr>Times New Roman</vt:lpstr>
      <vt:lpstr>COEP</vt:lpstr>
      <vt:lpstr>A Project Presentation on, </vt:lpstr>
      <vt:lpstr>Content</vt:lpstr>
      <vt:lpstr>Learning Objectives</vt:lpstr>
      <vt:lpstr>What is Template Matching?</vt:lpstr>
      <vt:lpstr>What is Template Matching?</vt:lpstr>
      <vt:lpstr>The Sliding Window</vt:lpstr>
      <vt:lpstr>Choosing Your “Measuring Tape” (Methods)</vt:lpstr>
      <vt:lpstr>Choosing Your “Measuring Tape” (Methods)</vt:lpstr>
      <vt:lpstr>Why do we ditch Colour?</vt:lpstr>
      <vt:lpstr>Why do we ditch Colour?</vt:lpstr>
      <vt:lpstr>Moving Beyond One Match (Thresholding)</vt:lpstr>
      <vt:lpstr>Real-World Use Cases</vt:lpstr>
      <vt:lpstr>The “Catch” (Limitations)</vt:lpstr>
      <vt:lpstr>Code Walkthrough (OpenCV)</vt:lpstr>
      <vt:lpstr>Summary &amp; Conclusion</vt:lpstr>
      <vt:lpstr>Rule of Thumb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Ph.D. Research Proposal On</dc:title>
  <dc:creator>Vinod Saraf</dc:creator>
  <cp:lastModifiedBy>Lishit Vaishnav</cp:lastModifiedBy>
  <cp:revision>180</cp:revision>
  <dcterms:created xsi:type="dcterms:W3CDTF">2023-10-04T07:09:10Z</dcterms:created>
  <dcterms:modified xsi:type="dcterms:W3CDTF">2026-04-10T11:31:47Z</dcterms:modified>
</cp:coreProperties>
</file>